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2" r:id="rId11"/>
    <p:sldId id="263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Affected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B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A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B3E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D1B3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Time Waste</c:v>
                </c:pt>
                <c:pt idx="1">
                  <c:v>QR Code Fraud</c:v>
                </c:pt>
                <c:pt idx="2">
                  <c:v>Record Errors</c:v>
                </c:pt>
                <c:pt idx="3">
                  <c:v>Student Dissatisfaction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62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 cmpd="sng" algn="ctr">
              <a:solidFill>
                <a:srgbClr val="D6EB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371df47-c520-4bce-a101-4ba3f70bfaf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8872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AttendSense</a:t>
            </a:r>
            <a:endParaRPr lang="en-US" sz="6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21488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Bluetooth Attendance System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Automating Classroom Attendance with Bluetooth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5146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2514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325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4356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1031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Roll-Call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2648" y="2542032"/>
            <a:ext cx="229514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Wastes class time. Students answer for absent friends.</a:t>
            </a:r>
            <a:endParaRPr lang="en-US" sz="20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" y="4187952"/>
            <a:ext cx="21488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4187952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~12 min wasted per class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91840" y="1143000"/>
            <a:ext cx="25146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143000"/>
            <a:ext cx="2514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1325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43560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1031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QR Code Abuse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01568" y="2542032"/>
            <a:ext cx="229514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shared on WhatsApp. Non-present students self-mark.</a:t>
            </a: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3474720" y="4187952"/>
            <a:ext cx="21488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0" y="4187952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30%+ fraudulent check-ins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143000"/>
            <a:ext cx="25146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143000"/>
            <a:ext cx="2514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95160" y="1325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43560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72200" y="21031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Inaccurate Records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190488" y="2542032"/>
            <a:ext cx="229514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Manipulated data, unfair to genuine students.</a:t>
            </a: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6263640" y="4187952"/>
            <a:ext cx="21488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63640" y="4187952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 to 40% data errors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Challenges — Survey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of classes experiencing each issue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8229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Internal university survey</a:t>
            </a:r>
            <a:endParaRPr lang="en-US" sz="1200" dirty="0"/>
          </a:p>
        </p:txBody>
      </p:sp>
      <p:sp>
        <p:nvSpPr>
          <p:cNvPr id="8" name="Text Box 7"/>
          <p:cNvSpPr txBox="1"/>
          <p:nvPr/>
        </p:nvSpPr>
        <p:spPr>
          <a:xfrm>
            <a:off x="2385695" y="49187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Bluetooth-Based system that automatically detects physically present students.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636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545336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register their phone's Bluetooth with the system.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76656" y="1984248"/>
            <a:ext cx="0" cy="393192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57200" y="23774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37744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3230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72768" y="2414016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classroom device detects nearby registered Bluetooth signals.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676656" y="2852928"/>
            <a:ext cx="0" cy="393192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57200" y="32461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32461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0098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3282696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is recorded automatically within the allowed window.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676656" y="3721608"/>
            <a:ext cx="0" cy="393192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457200" y="411480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1148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7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16966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72768" y="4151376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 view live results on a web dashboard.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Benefits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7490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5331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Check-in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75564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manual roll-call. Attendance captured in seconds.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7490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35331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Tamper-Proof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32120" y="175564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physically present students are detected.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37490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0175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18211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Reports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25880" y="358444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generated instantly — no manual data entry.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37490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175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204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18211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532120" y="358444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 monitor attendance in real time via web.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08760" y="914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554480" y="1143000"/>
            <a:ext cx="1828800" cy="269367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801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682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45920" y="2861945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Nano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88036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1143000"/>
            <a:ext cx="1828800" cy="268414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A7BA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8016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2682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749039" y="2861945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49039" y="308102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60720" y="1143000"/>
            <a:ext cx="1828800" cy="270065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5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60720" y="2252345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890260" y="287782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Data Flow 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01625" y="4270375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90170" y="2418715"/>
            <a:ext cx="1481455" cy="1220470"/>
          </a:xfrm>
          <a:prstGeom prst="roundRect">
            <a:avLst>
              <a:gd name="adj" fmla="val 8974"/>
            </a:avLst>
          </a:prstGeom>
          <a:solidFill>
            <a:schemeClr val="accent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12395" y="2672842"/>
            <a:ext cx="14813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(Bluetooth)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617218" y="310184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3357245" y="310184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118227" y="310184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085586" y="2571877"/>
            <a:ext cx="14813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(Records)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878574" y="310184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9"/>
          <p:cNvSpPr/>
          <p:nvPr/>
        </p:nvSpPr>
        <p:spPr>
          <a:xfrm>
            <a:off x="3569970" y="2418715"/>
            <a:ext cx="1481455" cy="1220470"/>
          </a:xfrm>
          <a:prstGeom prst="roundRect">
            <a:avLst>
              <a:gd name="adj" fmla="val 8974"/>
            </a:avLst>
          </a:prstGeom>
          <a:solidFill>
            <a:schemeClr val="accent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30825" y="2418715"/>
            <a:ext cx="1481455" cy="1220470"/>
          </a:xfrm>
          <a:prstGeom prst="roundRect">
            <a:avLst>
              <a:gd name="adj" fmla="val 8974"/>
            </a:avLst>
          </a:prstGeom>
          <a:solidFill>
            <a:schemeClr val="accent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49770" y="2418715"/>
            <a:ext cx="1481455" cy="1220470"/>
          </a:xfrm>
          <a:prstGeom prst="roundRect">
            <a:avLst>
              <a:gd name="adj" fmla="val 8974"/>
            </a:avLst>
          </a:prstGeom>
          <a:solidFill>
            <a:schemeClr val="accent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Shape 19"/>
          <p:cNvSpPr/>
          <p:nvPr/>
        </p:nvSpPr>
        <p:spPr>
          <a:xfrm>
            <a:off x="1809115" y="2418715"/>
            <a:ext cx="1481455" cy="1220470"/>
          </a:xfrm>
          <a:prstGeom prst="roundRect">
            <a:avLst>
              <a:gd name="adj" fmla="val 8974"/>
            </a:avLst>
          </a:prstGeom>
          <a:solidFill>
            <a:schemeClr val="accent1"/>
          </a:solidFill>
          <a:ln w="12700">
            <a:solidFill>
              <a:srgbClr val="00B4D8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7" name="Text 20"/>
          <p:cNvSpPr/>
          <p:nvPr/>
        </p:nvSpPr>
        <p:spPr>
          <a:xfrm>
            <a:off x="1786890" y="2672842"/>
            <a:ext cx="14813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 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(Arduino)</a:t>
            </a:r>
            <a:endParaRPr lang="en-US" sz="1600" dirty="0"/>
          </a:p>
        </p:txBody>
      </p:sp>
      <p:sp>
        <p:nvSpPr>
          <p:cNvPr id="48" name="Text 20"/>
          <p:cNvSpPr/>
          <p:nvPr/>
        </p:nvSpPr>
        <p:spPr>
          <a:xfrm>
            <a:off x="7051040" y="2672842"/>
            <a:ext cx="14813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(Display )</a:t>
            </a:r>
            <a:endParaRPr lang="en-US" sz="1600" dirty="0"/>
          </a:p>
        </p:txBody>
      </p:sp>
      <p:sp>
        <p:nvSpPr>
          <p:cNvPr id="49" name="Text 20"/>
          <p:cNvSpPr/>
          <p:nvPr/>
        </p:nvSpPr>
        <p:spPr>
          <a:xfrm>
            <a:off x="5331460" y="2672842"/>
            <a:ext cx="14813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(student-info)</a:t>
            </a:r>
            <a:endParaRPr lang="en-US" sz="1600" dirty="0"/>
          </a:p>
        </p:txBody>
      </p:sp>
      <p:sp>
        <p:nvSpPr>
          <p:cNvPr id="50" name="Text 20"/>
          <p:cNvSpPr/>
          <p:nvPr/>
        </p:nvSpPr>
        <p:spPr>
          <a:xfrm>
            <a:off x="3610610" y="2672842"/>
            <a:ext cx="14813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Back-End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(Logic)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Applications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630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2801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Check-ins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1664208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workspace attendance for corporate environments.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2316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606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974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51460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Events &amp; Conferences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417320" y="2898648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attendee presence at large-scale events.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B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6576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3840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93192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74904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 Analytics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417320" y="4133088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occupancy insights for smart buildings.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18872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D1B3E"/>
                </a:solidFill>
                <a:latin typeface="Georgia" panose="02040502050405020303"/>
              </a:rPr>
              <a:t>Thank You</a:t>
            </a:r>
            <a:endParaRPr sz="4200" b="1" i="0">
              <a:solidFill>
                <a:srgbClr val="0D1B3E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85953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7BA4"/>
                </a:solidFill>
                <a:latin typeface="Calibri" panose="020F0502020204030204"/>
              </a:rPr>
              <a:t>AttendSense  ·  </a:t>
            </a:r>
            <a:r>
              <a:rPr lang="en-US" sz="1200" b="0" i="1">
                <a:solidFill>
                  <a:srgbClr val="1A7BA4"/>
                </a:solidFill>
                <a:latin typeface="Calibri" panose="020F0502020204030204"/>
              </a:rPr>
              <a:t>TEAM</a:t>
            </a:r>
            <a:endParaRPr lang="en-US" sz="1200" b="0" i="1">
              <a:solidFill>
                <a:srgbClr val="1A7BA4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118872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1426464"/>
            <a:ext cx="1783080" cy="3246120"/>
          </a:xfrm>
          <a:prstGeom prst="rect">
            <a:avLst/>
          </a:prstGeom>
          <a:solidFill>
            <a:srgbClr val="07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1783080" cy="3246120"/>
          </a:xfrm>
          <a:prstGeom prst="rect">
            <a:avLst/>
          </a:prstGeom>
          <a:solidFill>
            <a:srgbClr val="0A2A5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17830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" y="2889503"/>
            <a:ext cx="14538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16002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1">
                <a:solidFill>
                  <a:srgbClr val="CAF0F8"/>
                </a:solidFill>
                <a:latin typeface="Calibri" panose="020F0502020204030204"/>
              </a:rPr>
              <a:t>Information Manager </a:t>
            </a:r>
            <a:endParaRPr lang="en-US" sz="1000" b="0" i="1">
              <a:solidFill>
                <a:srgbClr val="CAF0F8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" y="4526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06624" y="1426464"/>
            <a:ext cx="1783080" cy="3246120"/>
          </a:xfrm>
          <a:prstGeom prst="rect">
            <a:avLst/>
          </a:prstGeom>
          <a:solidFill>
            <a:srgbClr val="07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371600"/>
            <a:ext cx="1783080" cy="3246120"/>
          </a:xfrm>
          <a:prstGeom prst="rect">
            <a:avLst/>
          </a:prstGeom>
          <a:solidFill>
            <a:srgbClr val="0A2A5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1371600"/>
            <a:ext cx="17830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16352" y="2889503"/>
            <a:ext cx="14538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2999232"/>
            <a:ext cx="16002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i="0">
                <a:solidFill>
                  <a:srgbClr val="FFFFFF"/>
                </a:solidFill>
                <a:latin typeface="Calibri" panose="020F0502020204030204"/>
              </a:rPr>
              <a:t>Tuyishime Savior</a:t>
            </a:r>
            <a:endParaRPr lang="en-US"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0" y="3429000"/>
            <a:ext cx="16002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1">
                <a:solidFill>
                  <a:srgbClr val="CAF0F8"/>
                </a:solidFill>
                <a:latin typeface="Calibri" panose="020F0502020204030204"/>
              </a:rPr>
              <a:t>Civil Engineer</a:t>
            </a:r>
            <a:endParaRPr lang="en-US" sz="1000" b="0" i="1">
              <a:solidFill>
                <a:srgbClr val="CAF0F8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651760" y="4526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64024" y="1426464"/>
            <a:ext cx="1783080" cy="3246120"/>
          </a:xfrm>
          <a:prstGeom prst="rect">
            <a:avLst/>
          </a:prstGeom>
          <a:solidFill>
            <a:srgbClr val="07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371600"/>
            <a:ext cx="1783080" cy="3246120"/>
          </a:xfrm>
          <a:prstGeom prst="rect">
            <a:avLst/>
          </a:prstGeom>
          <a:solidFill>
            <a:srgbClr val="0A2A5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1371600"/>
            <a:ext cx="17830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73752" y="2889503"/>
            <a:ext cx="14538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2999232"/>
            <a:ext cx="16002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i="0">
                <a:solidFill>
                  <a:srgbClr val="FFFFFF"/>
                </a:solidFill>
                <a:latin typeface="Calibri" panose="020F0502020204030204"/>
              </a:rPr>
              <a:t>MUGISHA Julien</a:t>
            </a:r>
            <a:endParaRPr lang="en-US"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0600" y="3429000"/>
            <a:ext cx="16002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1">
                <a:solidFill>
                  <a:srgbClr val="CAF0F8"/>
                </a:solidFill>
                <a:latin typeface="Calibri" panose="020F0502020204030204"/>
              </a:rPr>
              <a:t>software Engineer</a:t>
            </a:r>
            <a:endParaRPr lang="en-US" sz="1000" b="0" i="1">
              <a:solidFill>
                <a:srgbClr val="CAF0F8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09160" y="4526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21424" y="1426464"/>
            <a:ext cx="1783080" cy="3246120"/>
          </a:xfrm>
          <a:prstGeom prst="rect">
            <a:avLst/>
          </a:prstGeom>
          <a:solidFill>
            <a:srgbClr val="07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1371600"/>
            <a:ext cx="1783080" cy="3246120"/>
          </a:xfrm>
          <a:prstGeom prst="rect">
            <a:avLst/>
          </a:prstGeom>
          <a:solidFill>
            <a:srgbClr val="0A2A5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0" y="1371600"/>
            <a:ext cx="17830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91172" y="1490472"/>
            <a:ext cx="1133856" cy="1133856"/>
          </a:xfrm>
          <a:prstGeom prst="ellipse">
            <a:avLst/>
          </a:prstGeom>
          <a:solidFill>
            <a:srgbClr val="0D2A5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55180" y="1554480"/>
            <a:ext cx="1005840" cy="1005840"/>
          </a:xfrm>
          <a:prstGeom prst="ellipse">
            <a:avLst/>
          </a:prstGeom>
          <a:solidFill>
            <a:srgbClr val="1C3A6E"/>
          </a:solidFill>
          <a:ln w="12700">
            <a:solidFill>
              <a:srgbClr val="3A7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6231" y="1805940"/>
            <a:ext cx="6437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F0F8"/>
                </a:solidFill>
                <a:latin typeface="Calibri" panose="020F0502020204030204"/>
              </a:rPr>
              <a:t>📷</a:t>
            </a:r>
            <a:endParaRPr sz="1600" b="0" i="0">
              <a:solidFill>
                <a:srgbClr val="CAF0F8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39712" y="2596896"/>
            <a:ext cx="1636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B4CC"/>
                </a:solidFill>
                <a:latin typeface="Calibri" panose="020F0502020204030204"/>
              </a:rPr>
              <a:t>Upload Photo</a:t>
            </a:r>
            <a:endParaRPr sz="800" b="0" i="1">
              <a:solidFill>
                <a:srgbClr val="80B4CC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931152" y="2889503"/>
            <a:ext cx="14538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2999232"/>
            <a:ext cx="16002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i="0">
                <a:solidFill>
                  <a:srgbClr val="FFFFFF"/>
                </a:solidFill>
                <a:latin typeface="Calibri" panose="020F0502020204030204"/>
              </a:rPr>
              <a:t>MUGABO Bonheur</a:t>
            </a:r>
            <a:endParaRPr lang="en-US"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58000" y="3429000"/>
            <a:ext cx="16002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1">
                <a:solidFill>
                  <a:srgbClr val="CAF0F8"/>
                </a:solidFill>
                <a:latin typeface="Calibri" panose="020F0502020204030204"/>
              </a:rPr>
              <a:t>Software Engineer</a:t>
            </a:r>
            <a:endParaRPr lang="en-US" sz="1000" b="0" i="1">
              <a:solidFill>
                <a:srgbClr val="CAF0F8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766560" y="4526280"/>
            <a:ext cx="17830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24"/>
          <p:cNvSpPr txBox="1"/>
          <p:nvPr/>
        </p:nvSpPr>
        <p:spPr>
          <a:xfrm>
            <a:off x="704215" y="3075432"/>
            <a:ext cx="16002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350" b="1" i="0">
                <a:solidFill>
                  <a:srgbClr val="FFFFFF"/>
                </a:solidFill>
                <a:latin typeface="Calibri" panose="020F0502020204030204"/>
              </a:rPr>
              <a:t>NTWARI </a:t>
            </a:r>
            <a:r>
              <a:rPr lang="en-US" sz="1350" b="1" i="0">
                <a:solidFill>
                  <a:srgbClr val="FFFFFF"/>
                </a:solidFill>
                <a:latin typeface="Calibri" panose="020F0502020204030204"/>
              </a:rPr>
              <a:t>Deus </a:t>
            </a:r>
            <a:endParaRPr lang="en-US"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51" name="Picture 50" descr="WhatsApp Image 2026-04-01 at 15.03.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45" y="1656080"/>
            <a:ext cx="1134110" cy="1130300"/>
          </a:xfrm>
          <a:prstGeom prst="rect">
            <a:avLst/>
          </a:prstGeom>
        </p:spPr>
      </p:pic>
      <p:pic>
        <p:nvPicPr>
          <p:cNvPr id="52" name="Picture 51" descr="IMG_7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645" y="1613535"/>
            <a:ext cx="1134110" cy="1130935"/>
          </a:xfrm>
          <a:prstGeom prst="rect">
            <a:avLst/>
          </a:prstGeom>
        </p:spPr>
      </p:pic>
      <p:pic>
        <p:nvPicPr>
          <p:cNvPr id="53" name="Picture 52" descr="WhatsApp Image 2026-04-01 at 15.28.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515" y="1619250"/>
            <a:ext cx="1130935" cy="11322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1678</Words>
  <Application>WPS Presentation</Application>
  <PresentationFormat>On-screen Show (16:9)</PresentationFormat>
  <Paragraphs>156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Arial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AttendSense</dc:title>
  <dc:creator>PptxGenJS</dc:creator>
  <dc:subject>PptxGenJS Presentation</dc:subject>
  <cp:lastModifiedBy>MUGISHA JULIEN</cp:lastModifiedBy>
  <cp:revision>5</cp:revision>
  <dcterms:created xsi:type="dcterms:W3CDTF">2026-03-31T21:59:00Z</dcterms:created>
  <dcterms:modified xsi:type="dcterms:W3CDTF">2026-04-01T13:56:51Z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6FE717397F0D4A57AF5FEA73F1ED2CD7_12</vt:lpwstr>
  </property>
</Properties>
</file>